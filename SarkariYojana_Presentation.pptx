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6" r:id="rId9"/>
    <p:sldId id="265" r:id="rId10"/>
    <p:sldId id="263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61191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ADA7A-3796-FDD9-C96B-43F8A9AF5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1FDD22-3D76-48FF-06A9-FFD50A1C84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F3CAC4-A2CD-853F-CFF9-73339E8CF9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E845F8-1CED-4766-587E-735E85A0BBB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19324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F17D2-B106-2A8A-0BBB-13F508C9A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CA18DD-8FF5-71DA-F59F-82F9B9A81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65B28F-C429-8306-2E54-E264D3FB3D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450FB2-530F-3D10-2ACE-CF306C7569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04978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74336"/>
            <a:ext cx="9144000" cy="164592"/>
          </a:xfrm>
          <a:prstGeom prst="rect">
            <a:avLst/>
          </a:prstGeom>
          <a:solidFill>
            <a:srgbClr val="138808"/>
          </a:solidFill>
          <a:ln w="12700">
            <a:solidFill>
              <a:srgbClr val="13880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6576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899AA"/>
                </a:solidFill>
              </a:rPr>
              <a:t>ABAI1010L — Foundations of AI Programming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91440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9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सरकारी योजना सहायक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chemeClr val="bg1"/>
                </a:solidFill>
              </a:rPr>
              <a:t>Multilingual AI-Powered Government Scheme Assistant</a:t>
            </a:r>
          </a:p>
        </p:txBody>
      </p:sp>
      <p:sp>
        <p:nvSpPr>
          <p:cNvPr id="10" name="Text 8"/>
          <p:cNvSpPr/>
          <p:nvPr/>
        </p:nvSpPr>
        <p:spPr>
          <a:xfrm>
            <a:off x="463296" y="219456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8899AA"/>
                </a:solidFill>
              </a:rPr>
              <a:t>for Rural Citizens of India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3657600" cy="36576"/>
          </a:xfrm>
          <a:prstGeom prst="rect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0E8"/>
                </a:solidFill>
              </a:rPr>
              <a:t>Hindi Voice &amp; Text Input  |  AI Intent Detection  |  Scheme Recommendations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6437" y="39044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Presented by: Kashish                        A25ARIU0003</a:t>
            </a:r>
          </a:p>
          <a:p>
            <a:r>
              <a:rPr lang="en-US" sz="1100" dirty="0">
                <a:solidFill>
                  <a:srgbClr val="8899AA"/>
                </a:solidFill>
              </a:rPr>
              <a:t>                          Mehta Yatri                A25ARIU0045</a:t>
            </a:r>
          </a:p>
          <a:p>
            <a:r>
              <a:rPr lang="en-US" sz="1100" dirty="0">
                <a:solidFill>
                  <a:srgbClr val="8899AA"/>
                </a:solidFill>
              </a:rPr>
              <a:t>                         Rimsha Chaudhary     A25ARIU0006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51435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82880" y="1371600"/>
            <a:ext cx="28346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</a:rPr>
              <a:t>Multilingual AI-Based Government Scheme Assistant</a:t>
            </a:r>
            <a:endParaRPr lang="en-US" sz="2600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182880" y="31089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899AA"/>
                </a:solidFill>
              </a:rPr>
              <a:t>Why does this matter?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83280" y="457200"/>
            <a:ext cx="548640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383280" y="457200"/>
            <a:ext cx="91440" cy="1234440"/>
          </a:xfrm>
          <a:prstGeom prst="rect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20440" y="71323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🔤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206240" y="5669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1B2A"/>
                </a:solidFill>
              </a:rPr>
              <a:t>Language Barrier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06240" y="9601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Govt websites are in English. Rural citizens speak Hindi.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83280" y="1920240"/>
            <a:ext cx="548640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83280" y="1920240"/>
            <a:ext cx="91440" cy="1234440"/>
          </a:xfrm>
          <a:prstGeom prst="rect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20440" y="21762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📱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206240" y="20299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1B2A"/>
                </a:solidFill>
              </a:rPr>
              <a:t>Complex Websites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206240" y="24231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Difficult navigation. Illiterate users cannot access schemes.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383280" y="3383280"/>
            <a:ext cx="548640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383280" y="3383280"/>
            <a:ext cx="91440" cy="1234440"/>
          </a:xfrm>
          <a:prstGeom prst="rect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20440" y="36393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💸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4206240" y="34930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1B2A"/>
                </a:solidFill>
              </a:rPr>
              <a:t>Missed Benefits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206240" y="38862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Crores of eligible citizens miss scholarships, farm aid &amp; health schemes.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Our Solution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899AA"/>
                </a:solidFill>
              </a:rPr>
              <a:t>An AI-powered Hindi chatbot that connects rural citizens to government schemes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371600"/>
            <a:ext cx="4023360" cy="1463040"/>
          </a:xfrm>
          <a:prstGeom prst="rect">
            <a:avLst/>
          </a:prstGeom>
          <a:solidFill>
            <a:srgbClr val="1A2D45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🎤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234440" y="15361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9933"/>
                </a:solidFill>
              </a:rPr>
              <a:t>Hindi Voice Input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19202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0E8"/>
                </a:solidFill>
              </a:rPr>
              <a:t>Speak in Hindi — SpeechRecognition converts voice to text automatically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46320" y="1371600"/>
            <a:ext cx="4023360" cy="1463040"/>
          </a:xfrm>
          <a:prstGeom prst="rect">
            <a:avLst/>
          </a:prstGeom>
          <a:solidFill>
            <a:srgbClr val="1A2D45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34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5715000" y="15361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9933"/>
                </a:solidFill>
              </a:rPr>
              <a:t>Hindi Text Input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715000" y="19202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0E8"/>
                </a:solidFill>
              </a:rPr>
              <a:t>Type in Hindi, Hinglish, or English — all supported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3063240"/>
            <a:ext cx="4023360" cy="1463040"/>
          </a:xfrm>
          <a:prstGeom prst="rect">
            <a:avLst/>
          </a:prstGeom>
          <a:solidFill>
            <a:srgbClr val="1A2D45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3383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🧠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234440" y="322783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9933"/>
                </a:solidFill>
              </a:rPr>
              <a:t>AI Intent Detection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34440" y="36118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0E8"/>
                </a:solidFill>
              </a:rPr>
              <a:t>TF-IDF + Logistic Regression classifies user need with 90%+ accuracy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46320" y="3063240"/>
            <a:ext cx="4023360" cy="1463040"/>
          </a:xfrm>
          <a:prstGeom prst="rect">
            <a:avLst/>
          </a:prstGeom>
          <a:solidFill>
            <a:srgbClr val="1A2D45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83480" y="3383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📋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5715000" y="322783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9933"/>
                </a:solidFill>
              </a:rPr>
              <a:t>Hindi Scheme Output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715000" y="36118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0E8"/>
                </a:solidFill>
              </a:rPr>
              <a:t>Returns clean Hindi list of relevant government schemes with links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38808"/>
          </a:solidFill>
          <a:ln w="12700">
            <a:solidFill>
              <a:srgbClr val="13880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2A"/>
                </a:solidFill>
              </a:rPr>
              <a:t>How It Works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899AA"/>
                </a:solidFill>
              </a:rPr>
              <a:t>Step-by-step flow from user input to Hindi scheme output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76656" y="1325880"/>
            <a:ext cx="914400" cy="91440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3258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1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1645920" y="1764792"/>
            <a:ext cx="320040" cy="0"/>
          </a:xfrm>
          <a:prstGeom prst="line">
            <a:avLst/>
          </a:prstGeom>
          <a:noFill/>
          <a:ln w="25400">
            <a:solidFill>
              <a:srgbClr val="AAAAA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2423160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User Input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971800"/>
            <a:ext cx="1536192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971800"/>
            <a:ext cx="15361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</a:rPr>
              <a:t>Hindi voice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</a:rPr>
              <a:t>or text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395728" y="1325880"/>
            <a:ext cx="914400" cy="914400"/>
          </a:xfrm>
          <a:prstGeom prst="ellipse">
            <a:avLst/>
          </a:prstGeom>
          <a:solidFill>
            <a:srgbClr val="1A7BBD"/>
          </a:solidFill>
          <a:ln w="12700">
            <a:solidFill>
              <a:srgbClr val="1A7BB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95728" y="13258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2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3364992" y="1764792"/>
            <a:ext cx="320040" cy="0"/>
          </a:xfrm>
          <a:prstGeom prst="line">
            <a:avLst/>
          </a:prstGeom>
          <a:noFill/>
          <a:ln w="25400">
            <a:solidFill>
              <a:srgbClr val="AAAAA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993392" y="2423160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Language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Detection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084832" y="2971800"/>
            <a:ext cx="1536192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084832" y="2971800"/>
            <a:ext cx="15361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</a:rPr>
              <a:t>langdetect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</a:rPr>
              <a:t>library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0" y="1325880"/>
            <a:ext cx="914400" cy="914400"/>
          </a:xfrm>
          <a:prstGeom prst="ellipse">
            <a:avLst/>
          </a:prstGeom>
          <a:solidFill>
            <a:srgbClr val="7B2D8B"/>
          </a:solidFill>
          <a:ln w="12700">
            <a:solidFill>
              <a:srgbClr val="7B2D8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0" y="13258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3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5084064" y="1764792"/>
            <a:ext cx="320040" cy="0"/>
          </a:xfrm>
          <a:prstGeom prst="line">
            <a:avLst/>
          </a:prstGeom>
          <a:noFill/>
          <a:ln w="25400">
            <a:solidFill>
              <a:srgbClr val="AAAAA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712464" y="2423160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Translation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803904" y="2971800"/>
            <a:ext cx="1536192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03904" y="2971800"/>
            <a:ext cx="15361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</a:rPr>
              <a:t>deep-translator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</a:rPr>
              <a:t>Hindi → English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33872" y="1325880"/>
            <a:ext cx="914400" cy="914400"/>
          </a:xfrm>
          <a:prstGeom prst="ellipse">
            <a:avLst/>
          </a:prstGeom>
          <a:solidFill>
            <a:srgbClr val="138808"/>
          </a:solidFill>
          <a:ln w="12700">
            <a:solidFill>
              <a:srgbClr val="13880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33872" y="13258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4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6803136" y="1764792"/>
            <a:ext cx="320040" cy="0"/>
          </a:xfrm>
          <a:prstGeom prst="line">
            <a:avLst/>
          </a:prstGeom>
          <a:noFill/>
          <a:ln w="25400">
            <a:solidFill>
              <a:srgbClr val="AAAAA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31536" y="2423160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ML Model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522976" y="2971800"/>
            <a:ext cx="1536192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22976" y="2971800"/>
            <a:ext cx="15361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</a:rPr>
              <a:t>TF-IDF +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</a:rPr>
              <a:t>Logistic Regression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552944" y="1325880"/>
            <a:ext cx="914400" cy="91440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552944" y="13258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5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7150608" y="2423160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Hindi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</a:rPr>
              <a:t>Response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242048" y="2971800"/>
            <a:ext cx="1536192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42048" y="2971800"/>
            <a:ext cx="15361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</a:rPr>
              <a:t>Scheme list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</a:rPr>
              <a:t>in Hindi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4023360"/>
            <a:ext cx="8229600" cy="822960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" y="41148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</a:rPr>
              <a:t>Example: "mere pass beti ko padhane ke paise nahi hai"  →  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669280" y="4114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8808"/>
                </a:solidFill>
              </a:rPr>
              <a:t>📚 छात्रवृत्ति योजनाएं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2A"/>
                </a:solidFill>
              </a:rPr>
              <a:t>Tech Stack &amp; Libraries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4160520" cy="1115568"/>
          </a:xfrm>
          <a:prstGeom prst="rect">
            <a:avLst/>
          </a:prstGeom>
          <a:solidFill>
            <a:srgbClr val="F5F0E8"/>
          </a:solidFill>
          <a:ln w="6350">
            <a:solidFill>
              <a:srgbClr val="DDDDDD"/>
            </a:solidFill>
            <a:prstDash val="solid"/>
          </a:ln>
          <a:effectLst>
            <a:outerShdw blurRad="635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960120"/>
            <a:ext cx="73152" cy="1115568"/>
          </a:xfrm>
          <a:prstGeom prst="rect">
            <a:avLst/>
          </a:prstGeom>
          <a:solidFill>
            <a:srgbClr val="138808"/>
          </a:solidFill>
          <a:ln w="12700">
            <a:solidFill>
              <a:srgbClr val="13880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154680" y="1033272"/>
            <a:ext cx="1234440" cy="256032"/>
          </a:xfrm>
          <a:prstGeom prst="rect">
            <a:avLst/>
          </a:prstGeom>
          <a:solidFill>
            <a:srgbClr val="138808"/>
          </a:solidFill>
          <a:ln w="12700">
            <a:solidFill>
              <a:srgbClr val="13880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154680" y="103327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Machine Learning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84632" y="1051560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</a:rPr>
              <a:t>scikit-learn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84632" y="1417320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</a:rPr>
              <a:t>TF-IDF Vectorizer + Logistic Regression for intent classification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54880" y="960120"/>
            <a:ext cx="4160520" cy="1115568"/>
          </a:xfrm>
          <a:prstGeom prst="rect">
            <a:avLst/>
          </a:prstGeom>
          <a:solidFill>
            <a:srgbClr val="F5F0E8"/>
          </a:solidFill>
          <a:ln w="6350">
            <a:solidFill>
              <a:srgbClr val="DDDDDD"/>
            </a:solidFill>
            <a:prstDash val="solid"/>
          </a:ln>
          <a:effectLst>
            <a:outerShdw blurRad="635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960120"/>
            <a:ext cx="73152" cy="1115568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589520" y="1033272"/>
            <a:ext cx="1234440" cy="256032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89520" y="103327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Translation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919472" y="1051560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</a:rPr>
              <a:t>deep-translator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19472" y="1417320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</a:rPr>
              <a:t>Stable Hindi ↔ English translation (replaces broken googletrans)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" y="2258568"/>
            <a:ext cx="4160520" cy="1115568"/>
          </a:xfrm>
          <a:prstGeom prst="rect">
            <a:avLst/>
          </a:prstGeom>
          <a:solidFill>
            <a:srgbClr val="F5F0E8"/>
          </a:solidFill>
          <a:ln w="6350">
            <a:solidFill>
              <a:srgbClr val="DDDDDD"/>
            </a:solidFill>
            <a:prstDash val="solid"/>
          </a:ln>
          <a:effectLst>
            <a:outerShdw blurRad="635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2258568"/>
            <a:ext cx="73152" cy="1115568"/>
          </a:xfrm>
          <a:prstGeom prst="rect">
            <a:avLst/>
          </a:prstGeom>
          <a:solidFill>
            <a:srgbClr val="1A7BBD"/>
          </a:solidFill>
          <a:ln w="12700">
            <a:solidFill>
              <a:srgbClr val="1A7BB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54680" y="2331720"/>
            <a:ext cx="1234440" cy="256032"/>
          </a:xfrm>
          <a:prstGeom prst="rect">
            <a:avLst/>
          </a:prstGeom>
          <a:solidFill>
            <a:srgbClr val="1A7BBD"/>
          </a:solidFill>
          <a:ln w="12700">
            <a:solidFill>
              <a:srgbClr val="1A7BB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154680" y="233172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NLP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84632" y="235000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</a:rPr>
              <a:t>langdetect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4632" y="2715768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</a:rPr>
              <a:t>Automatically detects if user input is Hindi, Hinglish, or English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54880" y="2258568"/>
            <a:ext cx="4160520" cy="1115568"/>
          </a:xfrm>
          <a:prstGeom prst="rect">
            <a:avLst/>
          </a:prstGeom>
          <a:solidFill>
            <a:srgbClr val="F5F0E8"/>
          </a:solidFill>
          <a:ln w="6350">
            <a:solidFill>
              <a:srgbClr val="DDDDDD"/>
            </a:solidFill>
            <a:prstDash val="solid"/>
          </a:ln>
          <a:effectLst>
            <a:outerShdw blurRad="635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54880" y="2258568"/>
            <a:ext cx="73152" cy="1115568"/>
          </a:xfrm>
          <a:prstGeom prst="rect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589520" y="2331720"/>
            <a:ext cx="1234440" cy="256032"/>
          </a:xfrm>
          <a:prstGeom prst="rect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89520" y="233172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Speech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919472" y="235000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</a:rPr>
              <a:t>SpeechRecognition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919472" y="2715768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</a:rPr>
              <a:t>Converts Hindi voice input to text using Google Speech API (hi-IN)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0040" y="3557016"/>
            <a:ext cx="4160520" cy="1115568"/>
          </a:xfrm>
          <a:prstGeom prst="rect">
            <a:avLst/>
          </a:prstGeom>
          <a:solidFill>
            <a:srgbClr val="F5F0E8"/>
          </a:solidFill>
          <a:ln w="6350">
            <a:solidFill>
              <a:srgbClr val="DDDDDD"/>
            </a:solidFill>
            <a:prstDash val="solid"/>
          </a:ln>
          <a:effectLst>
            <a:outerShdw blurRad="635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20040" y="3557016"/>
            <a:ext cx="73152" cy="111556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154680" y="3630168"/>
            <a:ext cx="1234440" cy="25603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154680" y="3630168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UI / Deployment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84632" y="3648456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0D1B2A"/>
                </a:solidFill>
              </a:rPr>
              <a:t>Streamlit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84632" y="4014216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</a:rPr>
              <a:t>Web UI with text + microphone tabs, shareable link using </a:t>
            </a:r>
            <a:r>
              <a:rPr lang="en-US" sz="1000" dirty="0" err="1">
                <a:solidFill>
                  <a:srgbClr val="444444"/>
                </a:solidFill>
              </a:rPr>
              <a:t>streamlit</a:t>
            </a:r>
            <a:r>
              <a:rPr lang="en-US" sz="1000" dirty="0">
                <a:solidFill>
                  <a:srgbClr val="444444"/>
                </a:solidFill>
              </a:rPr>
              <a:t> cloud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754880" y="3557016"/>
            <a:ext cx="4160520" cy="1115568"/>
          </a:xfrm>
          <a:prstGeom prst="rect">
            <a:avLst/>
          </a:prstGeom>
          <a:solidFill>
            <a:srgbClr val="F5F0E8"/>
          </a:solidFill>
          <a:ln w="6350">
            <a:solidFill>
              <a:srgbClr val="DDDDDD"/>
            </a:solidFill>
            <a:prstDash val="solid"/>
          </a:ln>
          <a:effectLst>
            <a:outerShdw blurRad="635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754880" y="3557016"/>
            <a:ext cx="73152" cy="1115568"/>
          </a:xfrm>
          <a:prstGeom prst="rect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589520" y="3630168"/>
            <a:ext cx="1234440" cy="256032"/>
          </a:xfrm>
          <a:prstGeom prst="rect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589520" y="3630168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</a:rPr>
              <a:t>Data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4919472" y="3648456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</a:rPr>
              <a:t>pandas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4919472" y="4014216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</a:rPr>
              <a:t>Manage and structure training dataset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F9933"/>
          </a:solidFill>
          <a:ln w="12700">
            <a:solidFill>
              <a:srgbClr val="FF99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Government Schemes Covered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899AA"/>
                </a:solidFill>
              </a:rPr>
              <a:t>5 categories | 25 government schemes — responses in Hindi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234440"/>
            <a:ext cx="1554480" cy="3474720"/>
          </a:xfrm>
          <a:prstGeom prst="rect">
            <a:avLst/>
          </a:prstGeom>
          <a:solidFill>
            <a:srgbClr val="152236"/>
          </a:solidFill>
          <a:ln w="19050">
            <a:solidFill>
              <a:srgbClr val="1A7BB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234440"/>
            <a:ext cx="1554480" cy="73152"/>
          </a:xfrm>
          <a:prstGeom prst="rect">
            <a:avLst/>
          </a:prstGeom>
          <a:solidFill>
            <a:srgbClr val="1A7BBD"/>
          </a:solidFill>
          <a:ln w="12700">
            <a:solidFill>
              <a:srgbClr val="1A7BB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41732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📚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74320" y="2029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Scholarship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23774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A7BBD"/>
                </a:solidFill>
              </a:rPr>
              <a:t>छात्रवृत्ति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761488"/>
            <a:ext cx="1188720" cy="0"/>
          </a:xfrm>
          <a:prstGeom prst="line">
            <a:avLst/>
          </a:prstGeom>
          <a:noFill/>
          <a:ln w="10160">
            <a:solidFill>
              <a:srgbClr val="3344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" y="2834640"/>
            <a:ext cx="1417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ABBCC"/>
                </a:solidFill>
              </a:rPr>
              <a:t>NSP, Post Matric, PM YASASVI,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AABBCC"/>
                </a:solidFill>
              </a:rPr>
              <a:t>Central Sector, Vidya Lakshmi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93392" y="1234440"/>
            <a:ext cx="1554480" cy="3474720"/>
          </a:xfrm>
          <a:prstGeom prst="rect">
            <a:avLst/>
          </a:prstGeom>
          <a:solidFill>
            <a:srgbClr val="152236"/>
          </a:solidFill>
          <a:ln w="19050">
            <a:solidFill>
              <a:srgbClr val="13880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93392" y="1234440"/>
            <a:ext cx="1554480" cy="73152"/>
          </a:xfrm>
          <a:prstGeom prst="rect">
            <a:avLst/>
          </a:prstGeom>
          <a:solidFill>
            <a:srgbClr val="138808"/>
          </a:solidFill>
          <a:ln w="12700">
            <a:solidFill>
              <a:srgbClr val="13880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993392" y="141732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🌾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993392" y="2029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Agriculture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993392" y="23774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38808"/>
                </a:solidFill>
              </a:rPr>
              <a:t>खेती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176272" y="2761488"/>
            <a:ext cx="1188720" cy="0"/>
          </a:xfrm>
          <a:prstGeom prst="line">
            <a:avLst/>
          </a:prstGeom>
          <a:noFill/>
          <a:ln w="10160">
            <a:solidFill>
              <a:srgbClr val="3344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66544" y="2834640"/>
            <a:ext cx="1417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ABBCC"/>
                </a:solidFill>
              </a:rPr>
              <a:t>PM Kisan, PMFBY, KCC,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AABBCC"/>
                </a:solidFill>
              </a:rPr>
              <a:t>Krishi Sinchai, Soil Health Card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712464" y="1234440"/>
            <a:ext cx="1554480" cy="3474720"/>
          </a:xfrm>
          <a:prstGeom prst="rect">
            <a:avLst/>
          </a:prstGeom>
          <a:solidFill>
            <a:srgbClr val="152236"/>
          </a:solidFill>
          <a:ln w="19050">
            <a:solidFill>
              <a:srgbClr val="E07B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12464" y="1234440"/>
            <a:ext cx="1554480" cy="73152"/>
          </a:xfrm>
          <a:prstGeom prst="rect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12464" y="141732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💼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3712464" y="2029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Employment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712464" y="23774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E07B00"/>
                </a:solidFill>
              </a:rPr>
              <a:t>रोजगार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895344" y="2761488"/>
            <a:ext cx="1188720" cy="0"/>
          </a:xfrm>
          <a:prstGeom prst="line">
            <a:avLst/>
          </a:prstGeom>
          <a:noFill/>
          <a:ln w="10160">
            <a:solidFill>
              <a:srgbClr val="33445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85616" y="2834640"/>
            <a:ext cx="1417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ABBCC"/>
                </a:solidFill>
              </a:rPr>
              <a:t>MGNREGA, PMKVY, DDU-GKY,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AABBCC"/>
                </a:solidFill>
              </a:rPr>
              <a:t>PMEGP, Startup India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31536" y="1234440"/>
            <a:ext cx="1554480" cy="3474720"/>
          </a:xfrm>
          <a:prstGeom prst="rect">
            <a:avLst/>
          </a:prstGeom>
          <a:solidFill>
            <a:srgbClr val="152236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31536" y="1234440"/>
            <a:ext cx="1554480" cy="7315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31536" y="141732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👩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5431536" y="2029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Women Support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31536" y="23774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C0392B"/>
                </a:solidFill>
              </a:rPr>
              <a:t>महिला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614416" y="2761488"/>
            <a:ext cx="1188720" cy="0"/>
          </a:xfrm>
          <a:prstGeom prst="line">
            <a:avLst/>
          </a:prstGeom>
          <a:noFill/>
          <a:ln w="10160">
            <a:solidFill>
              <a:srgbClr val="33445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04688" y="2834640"/>
            <a:ext cx="1417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ABBCC"/>
                </a:solidFill>
              </a:rPr>
              <a:t>Beti Bachao, Mahila Shakti,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AABBCC"/>
                </a:solidFill>
              </a:rPr>
              <a:t>Ujjwala, Sukanya, Udyam Nidhi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150608" y="1234440"/>
            <a:ext cx="1554480" cy="3474720"/>
          </a:xfrm>
          <a:prstGeom prst="rect">
            <a:avLst/>
          </a:prstGeom>
          <a:solidFill>
            <a:srgbClr val="152236"/>
          </a:solidFill>
          <a:ln w="19050">
            <a:solidFill>
              <a:srgbClr val="7B2D8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50608" y="1234440"/>
            <a:ext cx="1554480" cy="73152"/>
          </a:xfrm>
          <a:prstGeom prst="rect">
            <a:avLst/>
          </a:prstGeom>
          <a:solidFill>
            <a:srgbClr val="7B2D8B"/>
          </a:solidFill>
          <a:ln w="12700">
            <a:solidFill>
              <a:srgbClr val="7B2D8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50608" y="141732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🏥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7150608" y="202996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Health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150608" y="23774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7B2D8B"/>
                </a:solidFill>
              </a:rPr>
              <a:t>स्वास्थ्य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333488" y="2761488"/>
            <a:ext cx="1188720" cy="0"/>
          </a:xfrm>
          <a:prstGeom prst="line">
            <a:avLst/>
          </a:prstGeom>
          <a:noFill/>
          <a:ln w="10160">
            <a:solidFill>
              <a:srgbClr val="33445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223760" y="2834640"/>
            <a:ext cx="1417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ABBCC"/>
                </a:solidFill>
              </a:rPr>
              <a:t>Ayushman Bharat, RSBY,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AABBCC"/>
                </a:solidFill>
              </a:rPr>
              <a:t>JSY, National Dialysis, JAY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38808"/>
          </a:solidFill>
          <a:ln w="12700">
            <a:solidFill>
              <a:srgbClr val="13880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2A"/>
                </a:solidFill>
              </a:rPr>
              <a:t>Demo &amp; Results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914400"/>
            <a:ext cx="502920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914400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Sample Chatbot Conversations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4173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333333"/>
                </a:solidFill>
              </a:rPr>
              <a:t>User: "padhai ke paise nahi hain"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764792"/>
            <a:ext cx="4663440" cy="502920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7830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38808"/>
                </a:solidFill>
              </a:rPr>
              <a:t>Bot: 📚 NSP, Post Matric Scholarship...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5146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333333"/>
                </a:solidFill>
              </a:rPr>
              <a:t>User: "fasal kharab ho gayi madad karo"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862072"/>
            <a:ext cx="4663440" cy="502920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8803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38808"/>
                </a:solidFill>
              </a:rPr>
              <a:t>Bot: 🌾 PM Kisan, PMFBY, KCC...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36118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333333"/>
                </a:solidFill>
              </a:rPr>
              <a:t>User: "hospital bill bahut zyada hai"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959352"/>
            <a:ext cx="4663440" cy="502920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97764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38808"/>
                </a:solidFill>
              </a:rPr>
              <a:t>Bot: 🏥 Ayushman Bharat (₹5 lakh free)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577840" y="914400"/>
            <a:ext cx="3200400" cy="13716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0" y="9601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</a:rPr>
              <a:t>Model Accuracy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69280" y="13258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9933"/>
                </a:solidFill>
              </a:rPr>
              <a:t>90.3%</a:t>
            </a:r>
            <a:endParaRPr lang="en-US" sz="4200" dirty="0"/>
          </a:p>
        </p:txBody>
      </p:sp>
      <p:sp>
        <p:nvSpPr>
          <p:cNvPr id="19" name="Shape 17"/>
          <p:cNvSpPr/>
          <p:nvPr/>
        </p:nvSpPr>
        <p:spPr>
          <a:xfrm>
            <a:off x="5577840" y="2423160"/>
            <a:ext cx="3200400" cy="1188720"/>
          </a:xfrm>
          <a:prstGeom prst="rect">
            <a:avLst/>
          </a:prstGeom>
          <a:solidFill>
            <a:srgbClr val="EBF5FB"/>
          </a:solidFill>
          <a:ln w="12700">
            <a:solidFill>
              <a:srgbClr val="AED6F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0" y="2487168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</a:rPr>
              <a:t>Training Data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669280" y="2852928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4444"/>
                </a:solidFill>
              </a:rPr>
              <a:t>618 examples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44444"/>
                </a:solidFill>
              </a:rPr>
              <a:t>5 categories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44444"/>
                </a:solidFill>
              </a:rPr>
              <a:t>80 per category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577840" y="3749040"/>
            <a:ext cx="3200400" cy="1005840"/>
          </a:xfrm>
          <a:prstGeom prst="rect">
            <a:avLst/>
          </a:prstGeom>
          <a:solidFill>
            <a:srgbClr val="EAFAF1"/>
          </a:solidFill>
          <a:ln w="12700">
            <a:solidFill>
              <a:srgbClr val="A9DFB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0" y="382219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</a:rPr>
              <a:t>UI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669280" y="4142232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 err="1">
                <a:solidFill>
                  <a:srgbClr val="444444"/>
                </a:solidFill>
              </a:rPr>
              <a:t>Streamlit</a:t>
            </a:r>
            <a:r>
              <a:rPr lang="en-US" sz="1000" dirty="0">
                <a:solidFill>
                  <a:srgbClr val="444444"/>
                </a:solidFill>
              </a:rPr>
              <a:t> Web App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</a:rPr>
              <a:t>Text + Voice tabs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</a:rPr>
              <a:t>Shareable link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CFC8B-F499-FB7C-0238-4E3FD58DE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DC07F05-B349-6F08-9F46-E896E6A75B35}"/>
              </a:ext>
            </a:extLst>
          </p:cNvPr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38808"/>
          </a:solidFill>
          <a:ln w="12700">
            <a:solidFill>
              <a:srgbClr val="138808"/>
            </a:solidFill>
            <a:prstDash val="solid"/>
          </a:ln>
        </p:spPr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B9D381AC-B929-F955-22B3-637D86CD4B2F}"/>
              </a:ext>
            </a:extLst>
          </p:cNvPr>
          <p:cNvSpPr/>
          <p:nvPr/>
        </p:nvSpPr>
        <p:spPr>
          <a:xfrm>
            <a:off x="661182" y="-56272"/>
            <a:ext cx="8117058" cy="5472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2400" b="1" dirty="0"/>
              <a:t>Medium-effort upgrades:</a:t>
            </a:r>
            <a:endParaRPr lang="en-IN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dirty="0"/>
              <a:t>Replace TF-IDF + LR with a </a:t>
            </a:r>
            <a:r>
              <a:rPr lang="en-IN" sz="2400" b="1" dirty="0"/>
              <a:t>sentence-transformer</a:t>
            </a:r>
            <a:r>
              <a:rPr lang="en-IN" sz="2400" dirty="0"/>
              <a:t> model (like paraphrase-multilingual-</a:t>
            </a:r>
            <a:r>
              <a:rPr lang="en-IN" sz="2400" dirty="0" err="1"/>
              <a:t>MiniLM</a:t>
            </a:r>
            <a:r>
              <a:rPr lang="en-IN" sz="2400" dirty="0"/>
              <a:t>) for much better Hinglish understanding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dirty="0"/>
              <a:t>Add WhatsApp Bot integration via Twilio API — rural users rarely use browsers but do use WhatsApp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dirty="0"/>
              <a:t>Integrate with </a:t>
            </a:r>
            <a:r>
              <a:rPr lang="en-IN" sz="2400" b="1" dirty="0" err="1"/>
              <a:t>MyScheme</a:t>
            </a:r>
            <a:r>
              <a:rPr lang="en-IN" sz="2400" b="1" dirty="0"/>
              <a:t> API</a:t>
            </a:r>
            <a:r>
              <a:rPr lang="en-IN" sz="2400" dirty="0"/>
              <a:t> (government's official scheme search API at myscheme.gov.in) for live, always-updated data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dirty="0"/>
              <a:t>Add a </a:t>
            </a:r>
            <a:r>
              <a:rPr lang="en-IN" sz="2400" b="1" dirty="0"/>
              <a:t>document upload</a:t>
            </a:r>
            <a:r>
              <a:rPr lang="en-IN" sz="2400" dirty="0"/>
              <a:t> feature — user uploads Aadhaar/income certificate and app tells them which schemes they qualify for</a:t>
            </a:r>
          </a:p>
        </p:txBody>
      </p:sp>
    </p:spTree>
    <p:extLst>
      <p:ext uri="{BB962C8B-B14F-4D97-AF65-F5344CB8AC3E}">
        <p14:creationId xmlns:p14="http://schemas.microsoft.com/office/powerpoint/2010/main" val="12869765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12629-F1AA-CE0C-EA43-AE7CC2FA9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F9ABC03-66FA-90F3-F98B-81548AE8115A}"/>
              </a:ext>
            </a:extLst>
          </p:cNvPr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38808"/>
          </a:solidFill>
          <a:ln w="12700">
            <a:solidFill>
              <a:srgbClr val="138808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38BC706-4157-EE88-28BC-8CF1A9B89E48}"/>
              </a:ext>
            </a:extLst>
          </p:cNvPr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2A"/>
                </a:solidFill>
              </a:rPr>
              <a:t>Where else it can be used:</a:t>
            </a:r>
            <a:endParaRPr lang="en-US" sz="2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450E872-DAD1-6D76-CB13-2958B3BBAAD3}"/>
              </a:ext>
            </a:extLst>
          </p:cNvPr>
          <p:cNvSpPr/>
          <p:nvPr/>
        </p:nvSpPr>
        <p:spPr>
          <a:xfrm>
            <a:off x="676656" y="13258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1</a:t>
            </a:r>
            <a:endParaRPr lang="en-US" sz="26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1BCA1E6E-6ADB-7968-8AA5-46BEEB3F6F11}"/>
              </a:ext>
            </a:extLst>
          </p:cNvPr>
          <p:cNvSpPr/>
          <p:nvPr/>
        </p:nvSpPr>
        <p:spPr>
          <a:xfrm>
            <a:off x="618744" y="1941576"/>
            <a:ext cx="1536192" cy="1479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/>
              <a:t>Government / Social sector:</a:t>
            </a:r>
            <a:endParaRPr lang="en-US" sz="1000" dirty="0"/>
          </a:p>
          <a:p>
            <a:r>
              <a:rPr lang="en-US" sz="1000" b="1" dirty="0"/>
              <a:t>Grievance routing</a:t>
            </a:r>
            <a:r>
              <a:rPr lang="en-US" sz="1000" dirty="0"/>
              <a:t> — citizen complaint goes to the right department automatically (water, electricity, roads, police)</a:t>
            </a:r>
          </a:p>
          <a:p>
            <a:r>
              <a:rPr lang="en-US" sz="1000" b="1" dirty="0"/>
              <a:t>RTI query classifier</a:t>
            </a:r>
            <a:r>
              <a:rPr lang="en-US" sz="1000" dirty="0"/>
              <a:t> — route Right to Information requests to correct ministry</a:t>
            </a:r>
          </a:p>
          <a:p>
            <a:r>
              <a:rPr lang="en-US" sz="1000" b="1" dirty="0"/>
              <a:t>Hospital triage chatbot</a:t>
            </a:r>
            <a:r>
              <a:rPr lang="en-US" sz="1000" dirty="0"/>
              <a:t> — patient describes symptoms → routed to right department (ortho, cardio, emergency)</a:t>
            </a: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6FE9A583-92B1-EC37-0974-D04E38AE3CB2}"/>
              </a:ext>
            </a:extLst>
          </p:cNvPr>
          <p:cNvSpPr/>
          <p:nvPr/>
        </p:nvSpPr>
        <p:spPr>
          <a:xfrm>
            <a:off x="2395728" y="13258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2</a:t>
            </a:r>
            <a:endParaRPr lang="en-US" sz="26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0640AF93-43BB-2A7D-378C-30DFA869BA29}"/>
              </a:ext>
            </a:extLst>
          </p:cNvPr>
          <p:cNvSpPr/>
          <p:nvPr/>
        </p:nvSpPr>
        <p:spPr>
          <a:xfrm>
            <a:off x="4114800" y="13258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3</a:t>
            </a:r>
            <a:endParaRPr lang="en-US" sz="2600" dirty="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D6081B63-35E6-D5E4-24E0-73370F343ED8}"/>
              </a:ext>
            </a:extLst>
          </p:cNvPr>
          <p:cNvSpPr/>
          <p:nvPr/>
        </p:nvSpPr>
        <p:spPr>
          <a:xfrm>
            <a:off x="7552944" y="13258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5</a:t>
            </a:r>
            <a:endParaRPr lang="en-US" sz="2600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1ACE704-EB80-AE0C-1BC1-D2C16FBC9F68}"/>
              </a:ext>
            </a:extLst>
          </p:cNvPr>
          <p:cNvSpPr/>
          <p:nvPr/>
        </p:nvSpPr>
        <p:spPr>
          <a:xfrm>
            <a:off x="536448" y="1383792"/>
            <a:ext cx="1700784" cy="259537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22AC2B0-516B-368D-32B9-8F6C4A9CD419}"/>
              </a:ext>
            </a:extLst>
          </p:cNvPr>
          <p:cNvSpPr/>
          <p:nvPr/>
        </p:nvSpPr>
        <p:spPr>
          <a:xfrm>
            <a:off x="3328416" y="1383792"/>
            <a:ext cx="1700784" cy="259537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F2285BC-F717-CF8C-715D-5394193E5863}"/>
              </a:ext>
            </a:extLst>
          </p:cNvPr>
          <p:cNvSpPr/>
          <p:nvPr/>
        </p:nvSpPr>
        <p:spPr>
          <a:xfrm>
            <a:off x="6004560" y="1383792"/>
            <a:ext cx="1700784" cy="259537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0" name="Text 2">
            <a:extLst>
              <a:ext uri="{FF2B5EF4-FFF2-40B4-BE49-F238E27FC236}">
                <a16:creationId xmlns:a16="http://schemas.microsoft.com/office/drawing/2014/main" id="{06D405A2-E5ED-F1A4-3591-44DDD3841C1F}"/>
              </a:ext>
            </a:extLst>
          </p:cNvPr>
          <p:cNvSpPr/>
          <p:nvPr/>
        </p:nvSpPr>
        <p:spPr>
          <a:xfrm>
            <a:off x="457200" y="731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/>
              <a:t>Your TF-IDF + Logistic Regression intent classifier is a </a:t>
            </a:r>
            <a:r>
              <a:rPr lang="en-US" sz="1400" b="1" dirty="0"/>
              <a:t>general-purpose text classifier</a:t>
            </a:r>
            <a:endParaRPr lang="en-US" sz="1300" dirty="0"/>
          </a:p>
        </p:txBody>
      </p:sp>
      <p:sp>
        <p:nvSpPr>
          <p:cNvPr id="41" name="Text 8">
            <a:extLst>
              <a:ext uri="{FF2B5EF4-FFF2-40B4-BE49-F238E27FC236}">
                <a16:creationId xmlns:a16="http://schemas.microsoft.com/office/drawing/2014/main" id="{7C3657E5-6641-06D8-5D94-4238914D9683}"/>
              </a:ext>
            </a:extLst>
          </p:cNvPr>
          <p:cNvSpPr/>
          <p:nvPr/>
        </p:nvSpPr>
        <p:spPr>
          <a:xfrm>
            <a:off x="5516566" y="4202259"/>
            <a:ext cx="1404054" cy="2612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/>
          </a:p>
        </p:txBody>
      </p:sp>
      <p:sp>
        <p:nvSpPr>
          <p:cNvPr id="42" name="Text 8">
            <a:extLst>
              <a:ext uri="{FF2B5EF4-FFF2-40B4-BE49-F238E27FC236}">
                <a16:creationId xmlns:a16="http://schemas.microsoft.com/office/drawing/2014/main" id="{61CC62FF-07DB-A78E-8F3A-98389D934517}"/>
              </a:ext>
            </a:extLst>
          </p:cNvPr>
          <p:cNvSpPr/>
          <p:nvPr/>
        </p:nvSpPr>
        <p:spPr>
          <a:xfrm>
            <a:off x="6086856" y="1880616"/>
            <a:ext cx="1536192" cy="1479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/>
              <a:t>Education:</a:t>
            </a:r>
            <a:endParaRPr lang="en-US" sz="1000" dirty="0"/>
          </a:p>
          <a:p>
            <a:r>
              <a:rPr lang="en-US" sz="1000" b="1" dirty="0"/>
              <a:t>Doubt classifier</a:t>
            </a:r>
            <a:r>
              <a:rPr lang="en-US" sz="1000" dirty="0"/>
              <a:t> — student types a doubt, model routes it to the right subject teacher</a:t>
            </a:r>
          </a:p>
          <a:p>
            <a:r>
              <a:rPr lang="en-US" sz="1000" b="1" dirty="0"/>
              <a:t>Course recommender</a:t>
            </a:r>
            <a:r>
              <a:rPr lang="en-US" sz="1000" dirty="0"/>
              <a:t> — based on what a student says they want to learn</a:t>
            </a:r>
          </a:p>
        </p:txBody>
      </p:sp>
      <p:sp>
        <p:nvSpPr>
          <p:cNvPr id="45" name="Rectangle 3">
            <a:extLst>
              <a:ext uri="{FF2B5EF4-FFF2-40B4-BE49-F238E27FC236}">
                <a16:creationId xmlns:a16="http://schemas.microsoft.com/office/drawing/2014/main" id="{8381648E-9BB2-0632-9C46-6496517D1D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79885" y="1481148"/>
            <a:ext cx="1597846" cy="24006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IN" sz="1000" b="1" dirty="0"/>
              <a:t>Business:</a:t>
            </a:r>
            <a:endParaRPr lang="en-IN" sz="1000" dirty="0"/>
          </a:p>
          <a:p>
            <a:r>
              <a:rPr lang="en-IN" sz="1000" b="1" dirty="0"/>
              <a:t>Customer support routing</a:t>
            </a:r>
            <a:r>
              <a:rPr lang="en-IN" sz="1000" dirty="0"/>
              <a:t> — "my order is late" → logistics team; "I want a refund" → billing team. Every e-commerce company uses this</a:t>
            </a:r>
          </a:p>
          <a:p>
            <a:r>
              <a:rPr lang="en-IN" sz="1000" b="1" dirty="0"/>
              <a:t>HR chatbot</a:t>
            </a:r>
            <a:r>
              <a:rPr lang="en-IN" sz="1000" dirty="0"/>
              <a:t> — employee asks about leave policy / salary / PF → routed to correct HR FAQ</a:t>
            </a:r>
          </a:p>
          <a:p>
            <a:r>
              <a:rPr lang="en-IN" sz="1000" b="1" dirty="0"/>
              <a:t>Bank helpdesk</a:t>
            </a:r>
            <a:r>
              <a:rPr lang="en-IN" sz="1000" dirty="0"/>
              <a:t> — "block my card" vs "check balance" vs "loan inquiry" → different flows</a:t>
            </a:r>
          </a:p>
        </p:txBody>
      </p:sp>
    </p:spTree>
    <p:extLst>
      <p:ext uri="{BB962C8B-B14F-4D97-AF65-F5344CB8AC3E}">
        <p14:creationId xmlns:p14="http://schemas.microsoft.com/office/powerpoint/2010/main" val="1029055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74336"/>
            <a:ext cx="9144000" cy="164592"/>
          </a:xfrm>
          <a:prstGeom prst="rect">
            <a:avLst/>
          </a:prstGeom>
          <a:solidFill>
            <a:srgbClr val="138808"/>
          </a:solidFill>
          <a:ln w="12700">
            <a:solidFill>
              <a:srgbClr val="13880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2743200" y="1371600"/>
            <a:ext cx="3657600" cy="45720"/>
          </a:xfrm>
          <a:prstGeom prst="rect">
            <a:avLst/>
          </a:prstGeom>
          <a:solidFill>
            <a:srgbClr val="FF9933"/>
          </a:solidFill>
          <a:ln w="12700">
            <a:solidFill>
              <a:srgbClr val="FF99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1645920"/>
            <a:ext cx="6400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0E8"/>
                </a:solidFill>
              </a:rPr>
              <a:t>🎯  Solves real problem: language barrier to govt schemes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2176272"/>
            <a:ext cx="6400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</a:rPr>
              <a:t>🧠  Uses ML (TF-IDF + Logistic Regression) — 90%+ accuracy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71600" y="2706624"/>
            <a:ext cx="6400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0E8"/>
                </a:solidFill>
              </a:rPr>
              <a:t>🎤  Supports Hindi voice and text input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71600" y="3236976"/>
            <a:ext cx="6400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</a:rPr>
              <a:t>📱  Deployed as </a:t>
            </a:r>
            <a:r>
              <a:rPr lang="en-US" sz="1300" dirty="0" err="1">
                <a:solidFill>
                  <a:srgbClr val="8899AA"/>
                </a:solidFill>
              </a:rPr>
              <a:t>streamlit</a:t>
            </a:r>
            <a:r>
              <a:rPr lang="en-US" sz="1300" dirty="0">
                <a:solidFill>
                  <a:srgbClr val="8899AA"/>
                </a:solidFill>
              </a:rPr>
              <a:t> web app with shareable link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71600" y="3767328"/>
            <a:ext cx="6400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0E8"/>
                </a:solidFill>
              </a:rPr>
              <a:t>  Designed for rural, Hindi-speaking Indian citizens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8899AA"/>
                </a:solidFill>
              </a:rPr>
              <a:t>Questions? We'd love to answer!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238</TotalTime>
  <Words>809</Words>
  <Application>Microsoft Office PowerPoint</Application>
  <PresentationFormat>On-screen Show (16:9)</PresentationFormat>
  <Paragraphs>162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Sarkari Yojana Chatbot</dc:title>
  <dc:subject>PptxGenJS Presentation</dc:subject>
  <dc:creator>PptxGenJS</dc:creator>
  <cp:lastModifiedBy>Kashish .</cp:lastModifiedBy>
  <cp:revision>5</cp:revision>
  <dcterms:created xsi:type="dcterms:W3CDTF">2026-04-12T08:45:36Z</dcterms:created>
  <dcterms:modified xsi:type="dcterms:W3CDTF">2026-04-17T03:24:18Z</dcterms:modified>
</cp:coreProperties>
</file>